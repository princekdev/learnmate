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310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incekdev/Learnmat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22912284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PRINCE KUMAR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spksdev@gmail.com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9304248896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000" b="1" dirty="0">
                <a:highlight>
                  <a:srgbClr val="FFFF00"/>
                </a:highlight>
              </a:rPr>
              <a:t>Education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000" b="1" dirty="0">
                <a:highlight>
                  <a:srgbClr val="FFFF00"/>
                </a:highlight>
              </a:rPr>
              <a:t>Agentic AI for Personalized Course Pathways</a:t>
            </a:r>
            <a:endParaRPr lang="en-IN" sz="20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2EE97-24A7-0FA5-32A2-F4A1A57F5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018" y="3593193"/>
            <a:ext cx="1458750" cy="117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801959"/>
            <a:ext cx="1139961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 No.12 - Agentic AI for Personalized Course Pathways. 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The Challenge - </a:t>
            </a:r>
            <a:r>
              <a:rPr lang="en-US" dirty="0"/>
              <a:t>Students often struggle to identify the right learning path that aligns with their interests </a:t>
            </a:r>
          </a:p>
          <a:p>
            <a:pPr>
              <a:lnSpc>
                <a:spcPct val="150000"/>
              </a:lnSpc>
            </a:pPr>
            <a:r>
              <a:rPr lang="en-US" dirty="0"/>
              <a:t>and long-term goals due to the overwhelming number of online courses and a lack of personalized </a:t>
            </a:r>
          </a:p>
          <a:p>
            <a:pPr>
              <a:lnSpc>
                <a:spcPct val="150000"/>
              </a:lnSpc>
            </a:pPr>
            <a:r>
              <a:rPr lang="en-US" dirty="0"/>
              <a:t>guidance. </a:t>
            </a:r>
            <a:r>
              <a:rPr lang="en-US" dirty="0" err="1"/>
              <a:t>LearnMate</a:t>
            </a:r>
            <a:r>
              <a:rPr lang="en-US" dirty="0"/>
              <a:t> aims to solve this by acting as an Agentic AI coach that interacts with students, </a:t>
            </a:r>
          </a:p>
          <a:p>
            <a:pPr>
              <a:lnSpc>
                <a:spcPct val="150000"/>
              </a:lnSpc>
            </a:pPr>
            <a:r>
              <a:rPr lang="en-US" dirty="0"/>
              <a:t>understands their interests (like Frontend Development, Cybersecurity, UI/UX Design, etc.), assesses their </a:t>
            </a:r>
          </a:p>
          <a:p>
            <a:pPr>
              <a:lnSpc>
                <a:spcPct val="150000"/>
              </a:lnSpc>
            </a:pPr>
            <a:r>
              <a:rPr lang="en-US" dirty="0"/>
              <a:t>current skill level, and dynamically builds a personalized course roadmap that adapts over time based on </a:t>
            </a:r>
          </a:p>
          <a:p>
            <a:pPr>
              <a:lnSpc>
                <a:spcPct val="150000"/>
              </a:lnSpc>
            </a:pPr>
            <a:r>
              <a:rPr lang="en-US" dirty="0"/>
              <a:t>progress and preferences. </a:t>
            </a:r>
          </a:p>
          <a:p>
            <a:r>
              <a:rPr lang="en-US" b="1" dirty="0"/>
              <a:t>Technology </a:t>
            </a:r>
            <a:r>
              <a:rPr lang="en-US" dirty="0"/>
              <a:t>– Use of IBM Cloud Lite services / IBM Granite is mandatory.</a:t>
            </a:r>
          </a:p>
          <a:p>
            <a:endParaRPr lang="en-US" dirty="0"/>
          </a:p>
          <a:p>
            <a:r>
              <a:rPr lang="en-US" b="1" dirty="0"/>
              <a:t>The Objective</a:t>
            </a:r>
          </a:p>
          <a:p>
            <a:endParaRPr lang="en-US" b="1" dirty="0"/>
          </a:p>
          <a:p>
            <a:r>
              <a:rPr lang="en-US" dirty="0"/>
              <a:t>Build an </a:t>
            </a:r>
            <a:r>
              <a:rPr lang="en-US" b="1" dirty="0"/>
              <a:t>Agentic AI-powered personalized learning assistant – </a:t>
            </a:r>
            <a:r>
              <a:rPr lang="en-US" b="1" dirty="0" err="1"/>
              <a:t>LearnMate</a:t>
            </a:r>
            <a:r>
              <a:rPr lang="en-US" dirty="0"/>
              <a:t> that provides </a:t>
            </a:r>
            <a:r>
              <a:rPr lang="en-US" b="1" dirty="0"/>
              <a:t>adaptive course recommendations and personalized learning roadmaps</a:t>
            </a:r>
            <a:r>
              <a:rPr lang="en-US" dirty="0"/>
              <a:t> based on each student's interests, skills, goals, and learning progress. The solution should:</a:t>
            </a:r>
          </a:p>
          <a:p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Personalized Learning Path</a:t>
            </a:r>
            <a:r>
              <a:rPr lang="en-US" dirty="0"/>
              <a:t> – Create customized course roadmaps based on students' interests and career goals.</a:t>
            </a:r>
          </a:p>
          <a:p>
            <a:r>
              <a:rPr lang="en-US" dirty="0"/>
              <a:t>• </a:t>
            </a:r>
            <a:r>
              <a:rPr lang="en-US" b="1" dirty="0"/>
              <a:t>Skill Assessment</a:t>
            </a:r>
            <a:r>
              <a:rPr lang="en-US" dirty="0"/>
              <a:t> – Assess the student's current skill level and identify knowledge gaps.</a:t>
            </a:r>
          </a:p>
          <a:p>
            <a:r>
              <a:rPr lang="en-US" dirty="0"/>
              <a:t>• </a:t>
            </a:r>
            <a:r>
              <a:rPr lang="en-US" b="1" dirty="0"/>
              <a:t>AI Course Recommendations</a:t>
            </a:r>
            <a:r>
              <a:rPr lang="en-US" dirty="0"/>
              <a:t> – Recommend relevant courses and learning resources based on individual needs.</a:t>
            </a:r>
          </a:p>
          <a:p>
            <a:r>
              <a:rPr lang="en-US" dirty="0"/>
              <a:t>• </a:t>
            </a:r>
            <a:r>
              <a:rPr lang="en-US" b="1" dirty="0"/>
              <a:t>Adaptive Roadmap</a:t>
            </a:r>
            <a:r>
              <a:rPr lang="en-US" dirty="0"/>
              <a:t> – Dynamically update the learning path according to progress, assessment results, and preferences.</a:t>
            </a:r>
          </a:p>
          <a:p>
            <a:r>
              <a:rPr lang="en-US" dirty="0"/>
              <a:t>• </a:t>
            </a:r>
            <a:r>
              <a:rPr lang="en-US" b="1" dirty="0"/>
              <a:t>Progress Tracking &amp; Feedback</a:t>
            </a:r>
            <a:r>
              <a:rPr lang="en-US" dirty="0"/>
              <a:t> – Track learning progress and provide personalized guidance and feedback.</a:t>
            </a:r>
          </a:p>
          <a:p>
            <a:r>
              <a:rPr lang="en-US" dirty="0"/>
              <a:t>• </a:t>
            </a:r>
            <a:r>
              <a:rPr lang="en-US" b="1" dirty="0"/>
              <a:t>Multi-Agent System</a:t>
            </a:r>
            <a:r>
              <a:rPr lang="en-US" dirty="0"/>
              <a:t> – Use specialized agents for profile analysis, skill assessment, course recommendation, learning-path generation, and progress tracking.</a:t>
            </a:r>
          </a:p>
          <a:p>
            <a:r>
              <a:rPr lang="en-US" dirty="0"/>
              <a:t>• </a:t>
            </a:r>
            <a:r>
              <a:rPr lang="en-US" b="1" dirty="0"/>
              <a:t>Visualization Dashboard</a:t>
            </a:r>
            <a:r>
              <a:rPr lang="en-US" dirty="0"/>
              <a:t> – Display the student's roadmap, skills, progress, completed courses, and recommended next steps.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340294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proposed solution is an </a:t>
            </a:r>
            <a:r>
              <a:rPr lang="en-US" b="1" dirty="0"/>
              <a:t>Agentic AI-powered Personalized Learning Assistant, </a:t>
            </a:r>
            <a:r>
              <a:rPr lang="en-US" b="1" dirty="0" err="1"/>
              <a:t>LearnMate</a:t>
            </a:r>
            <a:r>
              <a:rPr lang="en-US" dirty="0"/>
              <a:t>, built using </a:t>
            </a:r>
            <a:r>
              <a:rPr lang="en-US" b="1" dirty="0"/>
              <a:t>IBM watsonx.ai, IBM Granite Models, and IBM Cloud services</a:t>
            </a:r>
            <a:r>
              <a:rPr lang="en-US" dirty="0"/>
              <a:t> to provide personalized, adaptive learning guidance. The system addresses challenges in course selection, skill assessment, learning-path creation, and progress tracking through an intelligent, modular architecture.</a:t>
            </a:r>
          </a:p>
          <a:p>
            <a:r>
              <a:rPr lang="en-US" dirty="0"/>
              <a:t>At its core, the solution uses </a:t>
            </a:r>
            <a:r>
              <a:rPr lang="en-US" b="1" dirty="0"/>
              <a:t>AI-powered reasoning and personalized recommendations</a:t>
            </a:r>
            <a:r>
              <a:rPr lang="en-US" dirty="0"/>
              <a:t> to understand a student's interests, career goals, current skill level, and learning progress. Based on this information, </a:t>
            </a:r>
            <a:r>
              <a:rPr lang="en-US" dirty="0" err="1"/>
              <a:t>LearnMate</a:t>
            </a:r>
            <a:r>
              <a:rPr lang="en-US" dirty="0"/>
              <a:t> dynamically generates a suitable course roadmap and adapts it as the student progresses.</a:t>
            </a:r>
          </a:p>
          <a:p>
            <a:r>
              <a:rPr lang="en-US" dirty="0"/>
              <a:t>The system consists of five key agents:</a:t>
            </a:r>
          </a:p>
          <a:p>
            <a:endParaRPr lang="en-US" dirty="0"/>
          </a:p>
          <a:p>
            <a:r>
              <a:rPr lang="en-US" b="1" dirty="0"/>
              <a:t>Profile Analysis Agent</a:t>
            </a:r>
            <a:r>
              <a:rPr lang="en-US" dirty="0"/>
              <a:t> understands the student's interests, career goals, existing skills, and learning preferences.</a:t>
            </a:r>
          </a:p>
          <a:p>
            <a:r>
              <a:rPr lang="en-US" b="1" dirty="0"/>
              <a:t>Skill Assessment Agent</a:t>
            </a:r>
            <a:r>
              <a:rPr lang="en-US" dirty="0"/>
              <a:t> evaluates the student's current knowledge through assessments and identifies important skill gaps.</a:t>
            </a:r>
          </a:p>
          <a:p>
            <a:r>
              <a:rPr lang="en-US" b="1" dirty="0"/>
              <a:t>Course Recommendation Agent</a:t>
            </a:r>
            <a:r>
              <a:rPr lang="en-US" dirty="0"/>
              <a:t> recommends relevant courses and learning resources based on the student's goals, skill level, and identified gaps.</a:t>
            </a:r>
          </a:p>
          <a:p>
            <a:endParaRPr lang="en-US" dirty="0"/>
          </a:p>
          <a:p>
            <a:r>
              <a:rPr lang="en-US" b="1" dirty="0"/>
              <a:t>Learning Path Agent</a:t>
            </a:r>
            <a:r>
              <a:rPr lang="en-US" dirty="0"/>
              <a:t> creates a structured, personalized roadmap and dynamically updates it according to the student's progress and preferences.</a:t>
            </a:r>
          </a:p>
          <a:p>
            <a:endParaRPr lang="en-US" dirty="0"/>
          </a:p>
          <a:p>
            <a:r>
              <a:rPr lang="en-US" b="1" dirty="0"/>
              <a:t>Progress &amp; Feedback Agent</a:t>
            </a:r>
            <a:r>
              <a:rPr lang="en-US" dirty="0"/>
              <a:t> monitors completed courses, assessment results, and overall learning progress while providing personalized feedback and suggesting the next learning steps.</a:t>
            </a:r>
          </a:p>
          <a:p>
            <a:r>
              <a:rPr lang="en-US" dirty="0"/>
              <a:t>The solution includes a </a:t>
            </a:r>
            <a:r>
              <a:rPr lang="en-US" b="1" dirty="0"/>
              <a:t>user-friendly dashboard</a:t>
            </a:r>
            <a:r>
              <a:rPr lang="en-US" dirty="0"/>
              <a:t> built with </a:t>
            </a:r>
            <a:r>
              <a:rPr lang="en-US" b="1" dirty="0"/>
              <a:t>React</a:t>
            </a:r>
            <a:r>
              <a:rPr lang="en-US" dirty="0"/>
              <a:t> that displays the personalized learning roadmap, skill progress, assessments, completed courses, and recommended next steps.</a:t>
            </a:r>
          </a:p>
          <a:p>
            <a:endParaRPr lang="en-US" dirty="0"/>
          </a:p>
          <a:p>
            <a:r>
              <a:rPr lang="en-US" b="1" dirty="0"/>
              <a:t>IBM watsonx.ai</a:t>
            </a:r>
            <a:r>
              <a:rPr lang="en-US" dirty="0"/>
              <a:t> provides the AI environment, while </a:t>
            </a:r>
            <a:r>
              <a:rPr lang="en-US" b="1" dirty="0"/>
              <a:t>IBM Granite models</a:t>
            </a:r>
            <a:r>
              <a:rPr lang="en-US" dirty="0"/>
              <a:t> power reasoning, natural-language understanding, recommendations, and personalization. </a:t>
            </a:r>
            <a:r>
              <a:rPr lang="en-US" b="1" dirty="0"/>
              <a:t>IBM Cloud services</a:t>
            </a:r>
            <a:r>
              <a:rPr lang="en-US" dirty="0"/>
              <a:t> support the deployment and integration of the AI capabilities.</a:t>
            </a:r>
          </a:p>
          <a:p>
            <a:r>
              <a:rPr lang="en-US" dirty="0"/>
              <a:t>Overall, </a:t>
            </a:r>
            <a:r>
              <a:rPr lang="en-US" dirty="0" err="1"/>
              <a:t>LearnMate</a:t>
            </a:r>
            <a:r>
              <a:rPr lang="en-US" dirty="0"/>
              <a:t> delivers an </a:t>
            </a:r>
            <a:r>
              <a:rPr lang="en-US" b="1" dirty="0"/>
              <a:t>end-to-end intelligent learning assistant</a:t>
            </a:r>
            <a:r>
              <a:rPr lang="en-US" dirty="0"/>
              <a:t> that helps students make better course decisions, identify skill gaps, and continuously follow a </a:t>
            </a:r>
            <a:r>
              <a:rPr lang="en-US" b="1" dirty="0"/>
              <a:t>personalized and adaptive learning pathway</a:t>
            </a:r>
            <a:r>
              <a:rPr lang="en-US" dirty="0"/>
              <a:t> aligned with their career goals.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946297"/>
            <a:ext cx="105156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• </a:t>
            </a:r>
            <a:r>
              <a:rPr lang="en-US" sz="1800" b="1" dirty="0"/>
              <a:t>IBM Bob Platform</a:t>
            </a:r>
            <a:r>
              <a:rPr lang="en-US" sz="1800" dirty="0"/>
              <a:t> – For designing, developing, and orchestrating the </a:t>
            </a:r>
            <a:r>
              <a:rPr lang="en-US" sz="1800" b="1" dirty="0"/>
              <a:t>multi-agent </a:t>
            </a:r>
            <a:r>
              <a:rPr lang="en-US" sz="1800" b="1" dirty="0" err="1"/>
              <a:t>LearnMate</a:t>
            </a:r>
            <a:r>
              <a:rPr lang="en-US" sz="1800" b="1" dirty="0"/>
              <a:t> workflow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• </a:t>
            </a:r>
            <a:r>
              <a:rPr lang="en-US" sz="1800" b="1" dirty="0"/>
              <a:t>IBM Granite Model</a:t>
            </a:r>
            <a:r>
              <a:rPr lang="en-US" sz="1800" dirty="0"/>
              <a:t> – e.g., </a:t>
            </a:r>
            <a:r>
              <a:rPr lang="en-US" sz="1800" b="1" dirty="0" err="1"/>
              <a:t>ibm</a:t>
            </a:r>
            <a:r>
              <a:rPr lang="en-US" sz="1800" b="1" dirty="0"/>
              <a:t>/granite-3-8b-instruct</a:t>
            </a:r>
            <a:r>
              <a:rPr lang="en-US" sz="1800" dirty="0"/>
              <a:t> – For </a:t>
            </a:r>
            <a:r>
              <a:rPr lang="en-US" sz="1800" b="1" dirty="0"/>
              <a:t>natural language understanding, reasoning, skill analysis, course recommendations, and personalization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• </a:t>
            </a:r>
            <a:r>
              <a:rPr lang="en-US" sz="1800" b="1" dirty="0"/>
              <a:t>IBM Cloud</a:t>
            </a:r>
            <a:r>
              <a:rPr lang="en-US" sz="1800" dirty="0"/>
              <a:t> – Provides the </a:t>
            </a:r>
            <a:r>
              <a:rPr lang="en-US" sz="1800" b="1" dirty="0"/>
              <a:t>secure, reliable, and scalable cloud infrastructure</a:t>
            </a:r>
            <a:r>
              <a:rPr lang="en-US" sz="1800" dirty="0"/>
              <a:t> required to build, integrate, and deploy </a:t>
            </a:r>
            <a:r>
              <a:rPr lang="en-US" sz="1800" dirty="0" err="1"/>
              <a:t>LearnMate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• </a:t>
            </a:r>
            <a:r>
              <a:rPr lang="en-US" sz="1800" b="1" dirty="0"/>
              <a:t>IBM watsonx.ai</a:t>
            </a:r>
            <a:r>
              <a:rPr lang="en-US" sz="1800" dirty="0"/>
              <a:t> – For </a:t>
            </a:r>
            <a:r>
              <a:rPr lang="en-US" sz="1800" b="1" dirty="0"/>
              <a:t>AI model integration, prompt engineering, model management, and AI-powered application development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• </a:t>
            </a:r>
            <a:r>
              <a:rPr lang="en-US" sz="1800" b="1" dirty="0"/>
              <a:t>Agentic AI / Multi-Agent Architecture</a:t>
            </a:r>
            <a:r>
              <a:rPr lang="en-US" sz="1800" dirty="0"/>
              <a:t> – Uses specialized agents for </a:t>
            </a:r>
            <a:r>
              <a:rPr lang="en-US" sz="1800" b="1" dirty="0"/>
              <a:t>Profile Analysis, Skill Assessment, Course Recommendation, Learning Path Generation, and Progress &amp; Feedback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• </a:t>
            </a:r>
            <a:r>
              <a:rPr lang="en-US" sz="1800" b="1" dirty="0"/>
              <a:t>MongoDB</a:t>
            </a:r>
            <a:r>
              <a:rPr lang="en-US" sz="1800" dirty="0"/>
              <a:t> – For securely storing </a:t>
            </a:r>
            <a:r>
              <a:rPr lang="en-US" sz="1800" b="1" dirty="0"/>
              <a:t>student profiles, skills, assessments, course data, learning paths, and progress information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• </a:t>
            </a:r>
            <a:r>
              <a:rPr lang="en-US" sz="1800" b="1" dirty="0"/>
              <a:t>React.js</a:t>
            </a:r>
            <a:r>
              <a:rPr lang="en-US" sz="1800" dirty="0"/>
              <a:t> – For building the </a:t>
            </a:r>
            <a:r>
              <a:rPr lang="en-US" sz="1800" b="1" dirty="0"/>
              <a:t>interactive </a:t>
            </a:r>
            <a:r>
              <a:rPr lang="en-US" sz="1800" b="1" dirty="0" err="1"/>
              <a:t>LearnMate</a:t>
            </a:r>
            <a:r>
              <a:rPr lang="en-US" sz="1800" b="1" dirty="0"/>
              <a:t> dashboard</a:t>
            </a:r>
            <a:r>
              <a:rPr lang="en-US" sz="1800" dirty="0"/>
              <a:t> to visualize personalized roadmaps, assessments, recommendations, and learning progress.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CF9ABF-3E21-D357-2C7E-0A302BCDA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848" y="981409"/>
            <a:ext cx="9357004" cy="503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61D8D1-0557-5D91-A111-C3969AB7D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61" y="980112"/>
            <a:ext cx="10336887" cy="518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E4F61E-11E1-3B5F-002A-06BD09957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59" y="541438"/>
            <a:ext cx="10471354" cy="577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DB254D-E59C-15C5-1961-6EB126920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8" y="727587"/>
            <a:ext cx="10953136" cy="579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24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73A3B-2975-7973-D8AF-56E230033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439" y="876079"/>
            <a:ext cx="9547122" cy="531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Agentic AI</a:t>
            </a:r>
            <a:r>
              <a:rPr lang="en-US" dirty="0"/>
              <a:t> enables </a:t>
            </a:r>
            <a:r>
              <a:rPr lang="en-US" b="1" dirty="0" err="1"/>
              <a:t>LearnMate</a:t>
            </a:r>
            <a:r>
              <a:rPr lang="en-US" dirty="0"/>
              <a:t> to function as an intelligent, adaptive learning coach rather than a simple course recommendation system. Using </a:t>
            </a:r>
            <a:r>
              <a:rPr lang="en-US" b="1" dirty="0"/>
              <a:t>IBM watsonx.ai</a:t>
            </a:r>
            <a:r>
              <a:rPr lang="en-US" dirty="0"/>
              <a:t> and </a:t>
            </a:r>
            <a:r>
              <a:rPr lang="en-US" b="1" dirty="0"/>
              <a:t>IBM Granite</a:t>
            </a:r>
            <a:r>
              <a:rPr lang="en-US" dirty="0"/>
              <a:t>, it can analyze student information, reason about learning needs, and generate personalized course pathways.</a:t>
            </a:r>
          </a:p>
          <a:p>
            <a:endParaRPr lang="en-US" dirty="0"/>
          </a:p>
          <a:p>
            <a:r>
              <a:rPr lang="en-US" dirty="0" err="1"/>
              <a:t>LearnMate</a:t>
            </a:r>
            <a:r>
              <a:rPr lang="en-US" dirty="0"/>
              <a:t> uses multiple specialized agents, each performing a specific role—such as </a:t>
            </a:r>
            <a:r>
              <a:rPr lang="en-US" b="1" dirty="0"/>
              <a:t>analyzing the student's profile, assessing skills, identifying skill gaps, recommending courses, generating a personalized roadmap, and tracking progress</a:t>
            </a:r>
            <a:r>
              <a:rPr lang="en-US" dirty="0"/>
              <a:t>. These agents work together to provide a coordinated and personalized learning experience.</a:t>
            </a:r>
          </a:p>
          <a:p>
            <a:endParaRPr lang="en-US" dirty="0"/>
          </a:p>
          <a:p>
            <a:r>
              <a:rPr lang="en-US" dirty="0"/>
              <a:t>The Agentic AI system provides </a:t>
            </a:r>
            <a:r>
              <a:rPr lang="en-US" b="1" dirty="0"/>
              <a:t>context awareness</a:t>
            </a:r>
            <a:r>
              <a:rPr lang="en-US" dirty="0"/>
              <a:t> by considering information such as the student's </a:t>
            </a:r>
            <a:r>
              <a:rPr lang="en-US" b="1" dirty="0"/>
              <a:t>interests, career goals, existing skills, learning preferences, assessment results, and progress</a:t>
            </a:r>
            <a:r>
              <a:rPr lang="en-US" dirty="0"/>
              <a:t> while making recommendations.</a:t>
            </a:r>
          </a:p>
          <a:p>
            <a:r>
              <a:rPr lang="en-US" dirty="0"/>
              <a:t>It also supports </a:t>
            </a:r>
            <a:r>
              <a:rPr lang="en-US" b="1" dirty="0"/>
              <a:t>real-time adaptation</a:t>
            </a:r>
            <a:r>
              <a:rPr lang="en-US" dirty="0"/>
              <a:t>. As students complete courses, perform assessments, or update their goals and preferences, </a:t>
            </a:r>
            <a:r>
              <a:rPr lang="en-US" dirty="0" err="1"/>
              <a:t>LearnMate</a:t>
            </a:r>
            <a:r>
              <a:rPr lang="en-US" dirty="0"/>
              <a:t> can adjust their recommended courses and learning roadmap accordingly.</a:t>
            </a:r>
          </a:p>
          <a:p>
            <a:endParaRPr lang="en-US" dirty="0"/>
          </a:p>
          <a:p>
            <a:r>
              <a:rPr lang="en-US" dirty="0"/>
              <a:t>The agents collaborate to improve decision-making—for example, the </a:t>
            </a:r>
            <a:r>
              <a:rPr lang="en-US" b="1" dirty="0"/>
              <a:t>Skill Assessment Agent</a:t>
            </a:r>
            <a:r>
              <a:rPr lang="en-US" dirty="0"/>
              <a:t> identifies gaps, the </a:t>
            </a:r>
            <a:r>
              <a:rPr lang="en-US" b="1" dirty="0"/>
              <a:t>Course Recommendation Agent</a:t>
            </a:r>
            <a:r>
              <a:rPr lang="en-US" dirty="0"/>
              <a:t> suggests suitable resources, and the </a:t>
            </a:r>
            <a:r>
              <a:rPr lang="en-US" b="1" dirty="0"/>
              <a:t>Learning Path Agent</a:t>
            </a:r>
            <a:r>
              <a:rPr lang="en-US" dirty="0"/>
              <a:t> organizes them into a structured roadmap.</a:t>
            </a:r>
          </a:p>
          <a:p>
            <a:endParaRPr lang="en-US" dirty="0"/>
          </a:p>
          <a:p>
            <a:r>
              <a:rPr lang="en-US" dirty="0"/>
              <a:t>Overall, Agentic AI makes </a:t>
            </a:r>
            <a:r>
              <a:rPr lang="en-US" b="1" dirty="0" err="1"/>
              <a:t>LearnMate</a:t>
            </a:r>
            <a:r>
              <a:rPr lang="en-US" b="1" dirty="0"/>
              <a:t> proactive, personalized, adaptive, and goal-oriented</a:t>
            </a:r>
            <a:r>
              <a:rPr lang="en-US" dirty="0"/>
              <a:t>, acting as a </a:t>
            </a:r>
            <a:r>
              <a:rPr lang="en-US" b="1" dirty="0"/>
              <a:t>smart digital learning coach</a:t>
            </a:r>
            <a:r>
              <a:rPr lang="en-US" dirty="0"/>
              <a:t> that helps students choose the right courses and continuously follow a learning path aligned with their career goals.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Token Usage 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897392" y="1628648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 dirty="0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6647200" y="64202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 dirty="0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15E51D-8867-6991-84F3-54B8CC1B1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354" y="1390824"/>
            <a:ext cx="7993925" cy="42314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AC6E8A-C6AB-0014-39FA-A50B5F6CD774}"/>
              </a:ext>
            </a:extLst>
          </p:cNvPr>
          <p:cNvSpPr txBox="1"/>
          <p:nvPr/>
        </p:nvSpPr>
        <p:spPr>
          <a:xfrm>
            <a:off x="897392" y="2072468"/>
            <a:ext cx="221943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Note:</a:t>
            </a:r>
            <a:r>
              <a:rPr lang="en-US"/>
              <a:t> I did not take a screenshot of the token usage before starting the project, so the </a:t>
            </a:r>
            <a:r>
              <a:rPr lang="en-US" b="1"/>
              <a:t>Before Prompt</a:t>
            </a:r>
            <a:r>
              <a:rPr lang="en-US"/>
              <a:t> token usage screenshot is not available.</a:t>
            </a:r>
          </a:p>
        </p:txBody>
      </p:sp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91DC2-E4F1-5F6F-EA4B-C56BBBECD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79" y="816977"/>
            <a:ext cx="10630821" cy="577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EFCA2C-379A-F852-981B-A3C9F62BF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26" y="884901"/>
            <a:ext cx="10063881" cy="508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E292E-D82F-8736-4608-DF988721F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99" y="771670"/>
            <a:ext cx="9894977" cy="531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600259" y="27939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600259" y="946297"/>
            <a:ext cx="113019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/>
              <a:t>LearnMate</a:t>
            </a:r>
            <a:r>
              <a:rPr lang="en-US" sz="1800" dirty="0"/>
              <a:t> combines </a:t>
            </a:r>
            <a:r>
              <a:rPr lang="en-US" sz="1800" b="1" dirty="0"/>
              <a:t>Agentic AI, personalization, and adaptive learning</a:t>
            </a:r>
            <a:r>
              <a:rPr lang="en-US" sz="1800" dirty="0"/>
              <a:t> to provide intelligent course pathways.</a:t>
            </a:r>
          </a:p>
          <a:p>
            <a:endParaRPr lang="en-US" sz="1800" dirty="0"/>
          </a:p>
          <a:p>
            <a:pPr lvl="0"/>
            <a:r>
              <a:rPr lang="en-US" sz="1800" b="1" dirty="0"/>
              <a:t>Multi-Agent Intelligence</a:t>
            </a:r>
            <a:r>
              <a:rPr lang="en-US" sz="1800" dirty="0"/>
              <a:t> – Uses specialized agents to analyze learner profiles, skills, and goals.</a:t>
            </a:r>
          </a:p>
          <a:p>
            <a:pPr lvl="0"/>
            <a:endParaRPr lang="en-US" sz="1800" dirty="0"/>
          </a:p>
          <a:p>
            <a:pPr lvl="0"/>
            <a:r>
              <a:rPr lang="en-US" sz="1800" b="1" dirty="0"/>
              <a:t>Personalized Learning Paths</a:t>
            </a:r>
            <a:r>
              <a:rPr lang="en-US" sz="1800" dirty="0"/>
              <a:t> – Creates customized course pathways according to individual needs.</a:t>
            </a:r>
          </a:p>
          <a:p>
            <a:pPr lvl="0"/>
            <a:endParaRPr lang="en-US" sz="1800" dirty="0"/>
          </a:p>
          <a:p>
            <a:pPr lvl="0"/>
            <a:r>
              <a:rPr lang="en-US" sz="1800" b="1" dirty="0"/>
              <a:t>Skill-Gap Analysis</a:t>
            </a:r>
            <a:r>
              <a:rPr lang="en-US" sz="1800" dirty="0"/>
              <a:t> – Identifies missing skills and recommends suitable learning resources.</a:t>
            </a:r>
          </a:p>
          <a:p>
            <a:pPr lvl="0"/>
            <a:endParaRPr lang="en-US" sz="1800" dirty="0"/>
          </a:p>
          <a:p>
            <a:pPr lvl="0"/>
            <a:r>
              <a:rPr lang="en-US" sz="1800" b="1" dirty="0"/>
              <a:t>Adaptive Recommendations</a:t>
            </a:r>
            <a:r>
              <a:rPr lang="en-US" sz="1800" dirty="0"/>
              <a:t> – Updates suggestions based on learner progress and assessment results.</a:t>
            </a:r>
          </a:p>
          <a:p>
            <a:pPr lvl="0"/>
            <a:endParaRPr lang="en-US" sz="1800" dirty="0"/>
          </a:p>
          <a:p>
            <a:pPr lvl="0"/>
            <a:r>
              <a:rPr lang="en-US" sz="1800" b="1" dirty="0"/>
              <a:t>AI-Based Assessments</a:t>
            </a:r>
            <a:r>
              <a:rPr lang="en-US" sz="1800" dirty="0"/>
              <a:t> – Helps evaluate knowledge and identify areas for improvement.</a:t>
            </a:r>
          </a:p>
          <a:p>
            <a:pPr lvl="0"/>
            <a:endParaRPr lang="en-US" sz="1800" dirty="0"/>
          </a:p>
          <a:p>
            <a:pPr lvl="0"/>
            <a:r>
              <a:rPr lang="en-US" sz="1800" b="1" dirty="0"/>
              <a:t>Goal-Oriented Learning</a:t>
            </a:r>
            <a:r>
              <a:rPr lang="en-US" sz="1800" dirty="0"/>
              <a:t> – Connects learning paths with career goals and target skills.</a:t>
            </a:r>
          </a:p>
          <a:p>
            <a:pPr lvl="0"/>
            <a:endParaRPr lang="en-US" sz="1800" dirty="0"/>
          </a:p>
          <a:p>
            <a:pPr lvl="0"/>
            <a:r>
              <a:rPr lang="en-US" sz="1800" b="1" dirty="0"/>
              <a:t>IBM Granite Integration</a:t>
            </a:r>
            <a:r>
              <a:rPr lang="en-US" sz="1800" dirty="0"/>
              <a:t> – Uses IBM watsonx.ai and Granite models to provide intelligent AI assistance.</a:t>
            </a:r>
          </a:p>
          <a:p>
            <a:pPr lvl="0"/>
            <a:endParaRPr lang="en-US" sz="1800" dirty="0"/>
          </a:p>
          <a:p>
            <a:pPr lvl="0"/>
            <a:r>
              <a:rPr lang="en-US" sz="1800" b="1" dirty="0"/>
              <a:t>Proactive Learning Support</a:t>
            </a:r>
            <a:r>
              <a:rPr lang="en-US" sz="1800" dirty="0"/>
              <a:t> – Suggests the next best learning step instead of simply listing courses.</a:t>
            </a:r>
          </a:p>
          <a:p>
            <a:pPr lvl="0"/>
            <a:endParaRPr lang="en-US" sz="1800" dirty="0"/>
          </a:p>
          <a:p>
            <a:r>
              <a:rPr lang="en-US" sz="1800" b="1" dirty="0" err="1"/>
              <a:t>LearnMate</a:t>
            </a:r>
            <a:r>
              <a:rPr lang="en-US" sz="1800" dirty="0"/>
              <a:t> therefore works as a </a:t>
            </a:r>
            <a:r>
              <a:rPr lang="en-US" sz="1800" b="1" dirty="0"/>
              <a:t>smart, personalized, and proactive learning companion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https://github.com/princekdev/Learnmate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indent="-457200">
              <a:buAutoNum type="arabicPeriod"/>
            </a:pPr>
            <a:r>
              <a:rPr lang="en-US" sz="2000" b="1" dirty="0"/>
              <a:t>Integration with Learning Platforms &amp; Course APIs –</a:t>
            </a:r>
            <a:br>
              <a:rPr lang="en-US" sz="2000" dirty="0"/>
            </a:br>
            <a:r>
              <a:rPr lang="en-US" sz="2000" dirty="0"/>
              <a:t>The system can be integrated with online learning platforms and course APIs to provide a wider range of courses, learning resources, and real-time recommendations based on user requirements.</a:t>
            </a:r>
          </a:p>
          <a:p>
            <a:pPr marL="457200" indent="-457200">
              <a:buAutoNum type="arabicPeriod"/>
            </a:pPr>
            <a:endParaRPr lang="en-US" sz="2000" dirty="0"/>
          </a:p>
          <a:p>
            <a:r>
              <a:rPr lang="en-US" sz="2000" b="1" dirty="0"/>
              <a:t>2. AI-Powered Voice Assistant &amp; Multilingual Support –</a:t>
            </a:r>
            <a:br>
              <a:rPr lang="en-US" sz="2000" dirty="0"/>
            </a:br>
            <a:r>
              <a:rPr lang="en-US" sz="2000" dirty="0"/>
              <a:t>Adding voice interaction and multiple language support will make </a:t>
            </a:r>
            <a:r>
              <a:rPr lang="en-US" sz="2000" dirty="0" err="1"/>
              <a:t>LearnMate</a:t>
            </a:r>
            <a:r>
              <a:rPr lang="en-US" sz="2000" dirty="0"/>
              <a:t> more accessible. Users will be able to interact naturally in their preferred language and receive personalized learning guidance.</a:t>
            </a:r>
          </a:p>
          <a:p>
            <a:endParaRPr lang="en-US" sz="2000" dirty="0"/>
          </a:p>
          <a:p>
            <a:r>
              <a:rPr lang="en-US" sz="2000" b="1" dirty="0"/>
              <a:t>3. Advanced Progress Tracking &amp; Adaptive Learning –</a:t>
            </a:r>
            <a:br>
              <a:rPr lang="en-US" sz="2000" dirty="0"/>
            </a:br>
            <a:r>
              <a:rPr lang="en-US" sz="2000" dirty="0"/>
              <a:t>Future versions can continuously analyze learner performance, assessment results, and course progress to automatically improve and adapt personalized learning pathways.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78EF95-2A9F-3390-5346-55F9F981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378" y="1248696"/>
            <a:ext cx="7102455" cy="515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64BCF6-5F01-9210-672B-844339D96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259" y="1477578"/>
            <a:ext cx="7590573" cy="461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1532</Words>
  <Application>Microsoft Office PowerPoint</Application>
  <PresentationFormat>Widescreen</PresentationFormat>
  <Paragraphs>140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PRINCE KUMAR</cp:lastModifiedBy>
  <cp:revision>3</cp:revision>
  <dcterms:created xsi:type="dcterms:W3CDTF">2025-07-08T05:06:56Z</dcterms:created>
  <dcterms:modified xsi:type="dcterms:W3CDTF">2026-09-05T08:28:15Z</dcterms:modified>
</cp:coreProperties>
</file>